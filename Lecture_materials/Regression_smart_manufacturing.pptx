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64" r:id="rId2"/>
  </p:sldMasterIdLst>
  <p:notesMasterIdLst>
    <p:notesMasterId r:id="rId13"/>
  </p:notesMasterIdLst>
  <p:sldIdLst>
    <p:sldId id="258" r:id="rId3"/>
    <p:sldId id="289" r:id="rId4"/>
    <p:sldId id="294" r:id="rId5"/>
    <p:sldId id="284" r:id="rId6"/>
    <p:sldId id="297" r:id="rId7"/>
    <p:sldId id="299" r:id="rId8"/>
    <p:sldId id="298" r:id="rId9"/>
    <p:sldId id="301" r:id="rId10"/>
    <p:sldId id="295" r:id="rId11"/>
    <p:sldId id="300" r:id="rId1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8000"/>
    <a:srgbClr val="00CC00"/>
    <a:srgbClr val="FF00FF"/>
    <a:srgbClr val="00FF00"/>
    <a:srgbClr val="F6F6E7"/>
    <a:srgbClr val="CCCC00"/>
    <a:srgbClr val="ECECCB"/>
    <a:srgbClr val="FFFF99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5238" autoAdjust="0"/>
  </p:normalViewPr>
  <p:slideViewPr>
    <p:cSldViewPr snapToGrid="0">
      <p:cViewPr varScale="1">
        <p:scale>
          <a:sx n="109" d="100"/>
          <a:sy n="109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68" d="100"/>
        <a:sy n="68" d="100"/>
      </p:scale>
      <p:origin x="0" y="0"/>
    </p:cViewPr>
  </p:notesTextViewPr>
  <p:sorterViewPr>
    <p:cViewPr>
      <p:scale>
        <a:sx n="45" d="100"/>
        <a:sy n="45" d="100"/>
      </p:scale>
      <p:origin x="0" y="3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F1BEBA-C63F-41E0-B90D-DFD8867F21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18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59857-FC35-4D63-A5CC-15EEC75C56C8}" type="slidenum">
              <a:rPr lang="en-US"/>
              <a:pPr/>
              <a:t>1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7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05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508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84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4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320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81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1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750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81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42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03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2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08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123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20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040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178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572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46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583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651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6916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4216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215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3331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3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415" name="Picture 16" descr="informal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1150"/>
            <a:ext cx="6858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7419" name="Picture 11" descr="AML_logo_3 copy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66700"/>
            <a:ext cx="108585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58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07/s10845-020-01567-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owards-data-science/multilayer-perceptron-explained-with-a-real-life-example-and-python-code-sentiment-analysis-cb408ee9314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2276" y="2158232"/>
            <a:ext cx="8139448" cy="2092036"/>
          </a:xfrm>
        </p:spPr>
        <p:txBody>
          <a:bodyPr/>
          <a:lstStyle/>
          <a:p>
            <a:r>
              <a:rPr lang="en-US" b="1" dirty="0"/>
              <a:t>ME </a:t>
            </a:r>
            <a:r>
              <a:rPr lang="en-US" b="1"/>
              <a:t>599 J, </a:t>
            </a:r>
            <a:r>
              <a:rPr lang="en-US" b="1" dirty="0"/>
              <a:t>K</a:t>
            </a:r>
            <a:r>
              <a:rPr lang="en-US" b="1"/>
              <a:t> </a:t>
            </a:r>
            <a:r>
              <a:rPr lang="en-US" b="1" dirty="0"/>
              <a:t>/ IND E </a:t>
            </a:r>
            <a:r>
              <a:rPr lang="en-US" b="1"/>
              <a:t>599 A</a:t>
            </a:r>
            <a:br>
              <a:rPr lang="en-US" b="1" dirty="0"/>
            </a:br>
            <a:r>
              <a:rPr lang="en-US" b="1" dirty="0"/>
              <a:t>AI/ML for Smart Manufacturing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Regression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0562" y="4521443"/>
            <a:ext cx="7762875" cy="509137"/>
          </a:xfrm>
        </p:spPr>
        <p:txBody>
          <a:bodyPr/>
          <a:lstStyle/>
          <a:p>
            <a:r>
              <a:rPr lang="de-DE" dirty="0"/>
              <a:t>Professor Ashis G. Banerjee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99244" y="5030581"/>
            <a:ext cx="83455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April 27, 2026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C7CA-8F90-4BB3-3765-5D519940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C1FC50-457B-7144-BE9E-963C6FAD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447800"/>
            <a:ext cx="8686799" cy="5410200"/>
          </a:xfrm>
        </p:spPr>
        <p:txBody>
          <a:bodyPr/>
          <a:lstStyle/>
          <a:p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Baturynska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I. and Martinsen, K., 2021.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/>
              </a:rPr>
              <a:t>Prediction of geometry deviations in additive manufactured parts: comparison of linear regression with machine learning algorithms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Intelligent Manufacturing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32(1), pp.179-200.</a:t>
            </a:r>
          </a:p>
          <a:p>
            <a:endParaRPr lang="en-US" sz="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Overall goal: Investigate effects of part placement, part orientation, and CAD model properties on dimensional accuracy of AM parts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Compare and contrast different regression models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terms of predicting thickness, width, and length of parts separately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E3BF4-ABF1-B8B1-9E16-A9D27EF9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89" y="231775"/>
            <a:ext cx="8599311" cy="838200"/>
          </a:xfrm>
        </p:spPr>
        <p:txBody>
          <a:bodyPr/>
          <a:lstStyle/>
          <a:p>
            <a:r>
              <a:rPr lang="en-US" dirty="0"/>
              <a:t>Case Study: Paper </a:t>
            </a:r>
          </a:p>
        </p:txBody>
      </p:sp>
    </p:spTree>
    <p:extLst>
      <p:ext uri="{BB962C8B-B14F-4D97-AF65-F5344CB8AC3E}">
        <p14:creationId xmlns:p14="http://schemas.microsoft.com/office/powerpoint/2010/main" val="84720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30C9-1953-D4C2-BE2E-1CC05E7E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Manufacturing Process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87FB7D-FFF9-BEC0-8594-700A79E0D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" y="1471930"/>
            <a:ext cx="2965527" cy="525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9938DA-484E-244C-8EE1-0DFB1FC2E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610360"/>
            <a:ext cx="4613564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A36EDF-C173-5C96-C7EB-6FDE7A766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005" y="4443730"/>
            <a:ext cx="3512634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4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A3673-4AFA-00F9-828C-CA773E729F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447799"/>
                <a:ext cx="8686800" cy="5178425"/>
              </a:xfrm>
            </p:spPr>
            <p:txBody>
              <a:bodyPr/>
              <a:lstStyle/>
              <a:p>
                <a:r>
                  <a:rPr lang="en-US" dirty="0"/>
                  <a:t>Supervised learning to </a:t>
                </a:r>
                <a:r>
                  <a:rPr lang="en-US" i="1" dirty="0"/>
                  <a:t>predict</a:t>
                </a:r>
                <a:r>
                  <a:rPr lang="en-US" dirty="0"/>
                  <a:t> values of </a:t>
                </a:r>
                <a:r>
                  <a:rPr lang="en-US" i="1" dirty="0"/>
                  <a:t>continuous</a:t>
                </a:r>
                <a:r>
                  <a:rPr lang="en-US" dirty="0"/>
                  <a:t> target (response) variables  </a:t>
                </a:r>
              </a:p>
              <a:p>
                <a:pPr lvl="1"/>
                <a:endParaRPr lang="en-US" sz="800" dirty="0"/>
              </a:p>
              <a:p>
                <a:r>
                  <a:rPr lang="en-US" dirty="0"/>
                  <a:t>Loss functions</a:t>
                </a:r>
              </a:p>
              <a:p>
                <a:pPr lvl="1"/>
                <a:r>
                  <a:rPr lang="en-US" dirty="0"/>
                  <a:t>Mean absolute error (MAE) or L1 loss; variants are MAPE, RAE</a:t>
                </a:r>
              </a:p>
              <a:p>
                <a:pPr lvl="1"/>
                <a:r>
                  <a:rPr lang="en-US" dirty="0"/>
                  <a:t>Mean squared error (MSE) or L2 loss; variants are RMSE; RSE</a:t>
                </a:r>
              </a:p>
              <a:p>
                <a:pPr lvl="1"/>
                <a:r>
                  <a:rPr lang="en-US" dirty="0"/>
                  <a:t>Huber loss</a:t>
                </a:r>
              </a:p>
              <a:p>
                <a:endParaRPr lang="en-US" sz="800" dirty="0"/>
              </a:p>
              <a:p>
                <a:r>
                  <a:rPr lang="en-US" dirty="0"/>
                  <a:t>Performance measures</a:t>
                </a:r>
              </a:p>
              <a:p>
                <a:pPr lvl="1"/>
                <a:r>
                  <a:rPr lang="en-US" dirty="0"/>
                  <a:t>MAE, MSE,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(coefficient of determination), and CI are most common</a:t>
                </a:r>
              </a:p>
              <a:p>
                <a:endParaRPr lang="en-US" sz="800" dirty="0"/>
              </a:p>
              <a:p>
                <a:r>
                  <a:rPr lang="en-US" dirty="0"/>
                  <a:t>Regularization to avoid overfitting</a:t>
                </a:r>
              </a:p>
              <a:p>
                <a:pPr lvl="1"/>
                <a:r>
                  <a:rPr lang="en-US" dirty="0"/>
                  <a:t>L1: LASSO</a:t>
                </a:r>
              </a:p>
              <a:p>
                <a:pPr lvl="1"/>
                <a:r>
                  <a:rPr lang="en-US" dirty="0"/>
                  <a:t>L2: Ridge</a:t>
                </a:r>
              </a:p>
              <a:p>
                <a:pPr lvl="1"/>
                <a:r>
                  <a:rPr lang="en-US" dirty="0"/>
                  <a:t>Mixed: Elastic net regularization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A3673-4AFA-00F9-828C-CA773E729F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447799"/>
                <a:ext cx="8686800" cy="5178425"/>
              </a:xfrm>
              <a:blipFill>
                <a:blip r:embed="rId2"/>
                <a:stretch>
                  <a:fillRect l="-1022" t="-978" b="-7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0C5C554-A1F3-A611-6908-C4AA29DF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</p:spTree>
    <p:extLst>
      <p:ext uri="{BB962C8B-B14F-4D97-AF65-F5344CB8AC3E}">
        <p14:creationId xmlns:p14="http://schemas.microsoft.com/office/powerpoint/2010/main" val="234963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B4AA-939F-FA33-A265-C42A8283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D46DE0-C698-BCB1-A6E9-6ECE3E3AC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799"/>
            <a:ext cx="8686800" cy="3853406"/>
          </a:xfrm>
        </p:spPr>
        <p:txBody>
          <a:bodyPr/>
          <a:lstStyle/>
          <a:p>
            <a:r>
              <a:rPr lang="en-US" dirty="0"/>
              <a:t>Typically, solved using least squares estimation</a:t>
            </a:r>
          </a:p>
          <a:p>
            <a:endParaRPr lang="en-US" sz="800" dirty="0"/>
          </a:p>
          <a:p>
            <a:r>
              <a:rPr lang="en-US" dirty="0"/>
              <a:t>Can includes higher order polynomial terms</a:t>
            </a:r>
          </a:p>
          <a:p>
            <a:endParaRPr lang="en-US" sz="800" dirty="0"/>
          </a:p>
          <a:p>
            <a:r>
              <a:rPr lang="en-US" dirty="0"/>
              <a:t>Use </a:t>
            </a:r>
            <a:r>
              <a:rPr lang="en-US" i="1" dirty="0"/>
              <a:t>one-hot encoding</a:t>
            </a:r>
            <a:r>
              <a:rPr lang="en-US" dirty="0"/>
              <a:t> to include categorical predictors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D1FC1C-C37F-1F44-1A35-C2F19A97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705339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AAFB-A3C9-6DB1-DD9F-6F759912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26E735-7720-5F31-BF64-F0BF8FB55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799"/>
            <a:ext cx="8686800" cy="3853406"/>
          </a:xfrm>
        </p:spPr>
        <p:txBody>
          <a:bodyPr/>
          <a:lstStyle/>
          <a:p>
            <a:r>
              <a:rPr lang="en-US" dirty="0"/>
              <a:t>Regression (decision) trees</a:t>
            </a:r>
          </a:p>
          <a:p>
            <a:endParaRPr lang="en-US" sz="800" dirty="0"/>
          </a:p>
          <a:p>
            <a:r>
              <a:rPr lang="en-US" dirty="0"/>
              <a:t>Random forest regression</a:t>
            </a:r>
          </a:p>
          <a:p>
            <a:endParaRPr lang="en-US" sz="800" dirty="0"/>
          </a:p>
          <a:p>
            <a:r>
              <a:rPr lang="en-US" dirty="0"/>
              <a:t>Gradient boosting trees</a:t>
            </a:r>
          </a:p>
          <a:p>
            <a:endParaRPr lang="en-US" sz="800" dirty="0"/>
          </a:p>
          <a:p>
            <a:r>
              <a:rPr lang="en-US" dirty="0"/>
              <a:t>Support vector regression</a:t>
            </a:r>
          </a:p>
          <a:p>
            <a:endParaRPr lang="en-US" sz="800" dirty="0"/>
          </a:p>
          <a:p>
            <a:r>
              <a:rPr lang="en-US" dirty="0"/>
              <a:t>Logistic regression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F82529-A3F3-33F0-0A5A-4241B873C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Regression </a:t>
            </a:r>
          </a:p>
        </p:txBody>
      </p:sp>
    </p:spTree>
    <p:extLst>
      <p:ext uri="{BB962C8B-B14F-4D97-AF65-F5344CB8AC3E}">
        <p14:creationId xmlns:p14="http://schemas.microsoft.com/office/powerpoint/2010/main" val="218266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DEEC-AF64-149B-E581-CDF71C12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5687A3-AEEA-170B-5F7A-3A4AE7C3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799"/>
            <a:ext cx="3857263" cy="5178426"/>
          </a:xfrm>
        </p:spPr>
        <p:txBody>
          <a:bodyPr/>
          <a:lstStyle/>
          <a:p>
            <a:r>
              <a:rPr lang="en-US" dirty="0"/>
              <a:t>Mapping between predictor and target variables is non-linear</a:t>
            </a:r>
          </a:p>
          <a:p>
            <a:endParaRPr lang="en-US" sz="800" dirty="0"/>
          </a:p>
          <a:p>
            <a:r>
              <a:rPr lang="en-US" dirty="0"/>
              <a:t>Key ingredients</a:t>
            </a:r>
          </a:p>
          <a:p>
            <a:pPr lvl="1"/>
            <a:r>
              <a:rPr lang="en-US" i="1" dirty="0"/>
              <a:t>Activation functions</a:t>
            </a:r>
            <a:r>
              <a:rPr lang="en-US" dirty="0"/>
              <a:t>, such as sigmoid function and </a:t>
            </a:r>
            <a:r>
              <a:rPr lang="en-US" u="sng" dirty="0"/>
              <a:t>Re</a:t>
            </a:r>
            <a:r>
              <a:rPr lang="en-US" dirty="0"/>
              <a:t>ctified </a:t>
            </a:r>
            <a:r>
              <a:rPr lang="en-US" u="sng" dirty="0"/>
              <a:t>L</a:t>
            </a:r>
            <a:r>
              <a:rPr lang="en-US" dirty="0"/>
              <a:t>inear </a:t>
            </a:r>
            <a:r>
              <a:rPr lang="en-US" u="sng" dirty="0"/>
              <a:t>U</a:t>
            </a:r>
            <a:r>
              <a:rPr lang="en-US" dirty="0"/>
              <a:t>nit (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Backpropagation</a:t>
            </a:r>
            <a:r>
              <a:rPr lang="en-US" dirty="0"/>
              <a:t> to iteratively adjust the network weights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955419-6836-9045-6B29-62489D4AD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Multi-Layer Perceptron</a:t>
            </a:r>
          </a:p>
        </p:txBody>
      </p:sp>
      <p:pic>
        <p:nvPicPr>
          <p:cNvPr id="5" name="Picture 4" descr="A diagram of a function&#10;&#10;Description automatically generated">
            <a:extLst>
              <a:ext uri="{FF2B5EF4-FFF2-40B4-BE49-F238E27FC236}">
                <a16:creationId xmlns:a16="http://schemas.microsoft.com/office/drawing/2014/main" id="{1D7F6EF3-5F71-6672-F0AD-01C0978A8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41" y="1821160"/>
            <a:ext cx="4887659" cy="434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AECDF4-4075-53D5-17B5-00A2947D3226}"/>
              </a:ext>
            </a:extLst>
          </p:cNvPr>
          <p:cNvSpPr txBox="1"/>
          <p:nvPr/>
        </p:nvSpPr>
        <p:spPr>
          <a:xfrm>
            <a:off x="3051810" y="6164560"/>
            <a:ext cx="6092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</a:t>
            </a:r>
            <a:r>
              <a:rPr lang="en-US" sz="1200" dirty="0">
                <a:hlinkClick r:id="rId3"/>
              </a:rPr>
              <a:t>https://medium.com/towards-data-science/multilayer-perceptron-explained-with-a-real-life-example-and-python-code-sentiment-analysis-cb408ee93141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1562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A710-5DAE-F40E-5AEE-0BB00719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5B756-639B-4986-4037-B56B747E6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799"/>
            <a:ext cx="8753354" cy="2072641"/>
          </a:xfrm>
        </p:spPr>
        <p:txBody>
          <a:bodyPr/>
          <a:lstStyle/>
          <a:p>
            <a:r>
              <a:rPr lang="en-US" dirty="0"/>
              <a:t>Efficient application of </a:t>
            </a:r>
            <a:r>
              <a:rPr lang="en-US" i="1" dirty="0"/>
              <a:t>gradient descent</a:t>
            </a:r>
            <a:r>
              <a:rPr lang="en-US" dirty="0"/>
              <a:t>-based estimation of network weights to minimize </a:t>
            </a:r>
            <a:r>
              <a:rPr lang="en-US" i="1" dirty="0"/>
              <a:t>loss function</a:t>
            </a:r>
            <a:r>
              <a:rPr lang="en-US" dirty="0"/>
              <a:t> using the </a:t>
            </a:r>
            <a:r>
              <a:rPr lang="en-US" i="1" dirty="0"/>
              <a:t>chain rule</a:t>
            </a:r>
          </a:p>
          <a:p>
            <a:pPr lvl="1"/>
            <a:r>
              <a:rPr lang="en-US" dirty="0"/>
              <a:t>Activation functions need to be differentiable with bounded derivatives</a:t>
            </a:r>
          </a:p>
          <a:p>
            <a:pPr lvl="1"/>
            <a:r>
              <a:rPr lang="en-US" dirty="0"/>
              <a:t>Critical issues, such as local minima convergence, exploding gradient, vanishing gradient, etc.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EE1CB1-622C-3143-4553-C098F64A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216527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806C-A4C0-1E0A-6EDB-62A74BDA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F6B1-7062-15F5-BE35-AE5BF49A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7B99F-BE0B-3922-1C06-E14FB68E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34" y="1703070"/>
            <a:ext cx="8871132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4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D2FBF-7D46-EFA0-2CE7-A0707C6D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79EB-AF3A-0F23-DF19-E189B1CB2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Results (Cont’d.)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05F1D-EEDA-83E8-95AE-8ABED76BD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89470"/>
            <a:ext cx="5943600" cy="104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E6ECBC-EB43-9588-E0EB-3FBBEFE6E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793667"/>
            <a:ext cx="5943600" cy="1914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BB887F-88D3-A6A6-314E-AFD7BADC3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866966"/>
            <a:ext cx="5943600" cy="17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55230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7030A0"/>
          </a:solidFill>
          <a:prstDash val="solid"/>
          <a:round/>
          <a:headEnd type="none" w="med" len="med"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mtClean="0">
            <a:solidFill>
              <a:srgbClr val="7030A0"/>
            </a:solidFill>
          </a:defRPr>
        </a:defPPr>
      </a:lstStyle>
    </a:tx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105618</TotalTime>
  <Words>340</Words>
  <Application>Microsoft Macintosh PowerPoint</Application>
  <PresentationFormat>On-screen Show (4:3)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Unicode MS</vt:lpstr>
      <vt:lpstr>Arial</vt:lpstr>
      <vt:lpstr>Book Antiqua</vt:lpstr>
      <vt:lpstr>Cambria Math</vt:lpstr>
      <vt:lpstr>Wingdings</vt:lpstr>
      <vt:lpstr>2_Default Design</vt:lpstr>
      <vt:lpstr>3_Default Design</vt:lpstr>
      <vt:lpstr>ME 599 J, K / IND E 599 A AI/ML for Smart Manufacturing  Regression</vt:lpstr>
      <vt:lpstr>Case Study: Paper </vt:lpstr>
      <vt:lpstr>Case Study: Manufacturing Process</vt:lpstr>
      <vt:lpstr>Basics</vt:lpstr>
      <vt:lpstr>Linear Regression</vt:lpstr>
      <vt:lpstr>Generalized Regression </vt:lpstr>
      <vt:lpstr>Multi-Layer Perceptron</vt:lpstr>
      <vt:lpstr>Backpropagation Algorithm</vt:lpstr>
      <vt:lpstr>Case Study: Results</vt:lpstr>
      <vt:lpstr>Case Study: Results (Cont’d.)</vt:lpstr>
    </vt:vector>
  </TitlesOfParts>
  <Company>SKG Lab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UMCP</dc:creator>
  <cp:lastModifiedBy>Ashis G. Banerjee</cp:lastModifiedBy>
  <cp:revision>2744</cp:revision>
  <cp:lastPrinted>2016-01-22T23:20:15Z</cp:lastPrinted>
  <dcterms:created xsi:type="dcterms:W3CDTF">2008-05-05T16:40:45Z</dcterms:created>
  <dcterms:modified xsi:type="dcterms:W3CDTF">2026-04-27T20:49:57Z</dcterms:modified>
</cp:coreProperties>
</file>