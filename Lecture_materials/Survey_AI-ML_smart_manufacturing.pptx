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  <p:sldMasterId id="2147483664" r:id="rId2"/>
  </p:sldMasterIdLst>
  <p:notesMasterIdLst>
    <p:notesMasterId r:id="rId11"/>
  </p:notesMasterIdLst>
  <p:sldIdLst>
    <p:sldId id="258" r:id="rId3"/>
    <p:sldId id="282" r:id="rId4"/>
    <p:sldId id="283" r:id="rId5"/>
    <p:sldId id="284" r:id="rId6"/>
    <p:sldId id="285" r:id="rId7"/>
    <p:sldId id="286" r:id="rId8"/>
    <p:sldId id="287" r:id="rId9"/>
    <p:sldId id="288" r:id="rId10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008000"/>
    <a:srgbClr val="00CC00"/>
    <a:srgbClr val="FF00FF"/>
    <a:srgbClr val="00FF00"/>
    <a:srgbClr val="F6F6E7"/>
    <a:srgbClr val="CCCC00"/>
    <a:srgbClr val="ECECCB"/>
    <a:srgbClr val="FFFF99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45" autoAdjust="0"/>
    <p:restoredTop sz="95238" autoAdjust="0"/>
  </p:normalViewPr>
  <p:slideViewPr>
    <p:cSldViewPr snapToGrid="0">
      <p:cViewPr varScale="1">
        <p:scale>
          <a:sx n="110" d="100"/>
          <a:sy n="110" d="100"/>
        </p:scale>
        <p:origin x="1416" y="184"/>
      </p:cViewPr>
      <p:guideLst>
        <p:guide orient="horz" pos="2160"/>
        <p:guide pos="2880"/>
      </p:guideLst>
    </p:cSldViewPr>
  </p:slideViewPr>
  <p:notesTextViewPr>
    <p:cViewPr>
      <p:scale>
        <a:sx n="68" d="100"/>
        <a:sy n="68" d="100"/>
      </p:scale>
      <p:origin x="0" y="0"/>
    </p:cViewPr>
  </p:notesTextViewPr>
  <p:sorterViewPr>
    <p:cViewPr>
      <p:scale>
        <a:sx n="45" d="100"/>
        <a:sy n="45" d="100"/>
      </p:scale>
      <p:origin x="0" y="31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FF1BEBA-C63F-41E0-B90D-DFD8867F21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185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259857-FC35-4D63-A5CC-15EEC75C56C8}" type="slidenum">
              <a:rPr lang="en-US"/>
              <a:pPr/>
              <a:t>1</a:t>
            </a:fld>
            <a:endParaRPr lang="en-US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79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058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508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6845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3430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2320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815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01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750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0810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31775"/>
            <a:ext cx="2171700" cy="6245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31775"/>
            <a:ext cx="6362700" cy="6245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742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447800"/>
            <a:ext cx="4267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38600"/>
            <a:ext cx="4267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6037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62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0837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1233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0205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04053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11780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5728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946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15839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65163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69165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31775"/>
            <a:ext cx="2171700" cy="6245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31775"/>
            <a:ext cx="6362700" cy="6245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42168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42159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447800"/>
            <a:ext cx="4267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38600"/>
            <a:ext cx="4267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03331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3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231775"/>
            <a:ext cx="6629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for Slide Title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447800"/>
            <a:ext cx="86868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250825" y="1196975"/>
            <a:ext cx="8642350" cy="0"/>
          </a:xfrm>
          <a:prstGeom prst="line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250825" y="1341438"/>
            <a:ext cx="8642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9pPr>
    </p:titleStyle>
    <p:bodyStyle>
      <a:lvl1pPr marL="234950" indent="-23495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31825" indent="-282575" algn="l" rtl="0" fontAlgn="base">
        <a:spcBef>
          <a:spcPct val="20000"/>
        </a:spcBef>
        <a:spcAft>
          <a:spcPct val="0"/>
        </a:spcAft>
        <a:buSzPct val="80000"/>
        <a:buFont typeface="Arial" charset="0"/>
        <a:buChar char="─"/>
        <a:defRPr sz="2000">
          <a:solidFill>
            <a:schemeClr val="tx1"/>
          </a:solidFill>
          <a:latin typeface="+mn-lt"/>
          <a:cs typeface="+mn-cs"/>
        </a:defRPr>
      </a:lvl2pPr>
      <a:lvl3pPr marL="977900" indent="-231775" algn="l" rtl="0" fontAlgn="base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3pPr>
      <a:lvl4pPr marL="1377950" indent="-285750" algn="l" rtl="0" fontAlgn="base">
        <a:spcBef>
          <a:spcPct val="20000"/>
        </a:spcBef>
        <a:spcAft>
          <a:spcPct val="0"/>
        </a:spcAft>
        <a:buSzPct val="80000"/>
        <a:buFont typeface="Arial Unicode MS" pitchFamily="34" charset="-128"/>
        <a:buChar char="→"/>
        <a:defRPr sz="1600">
          <a:solidFill>
            <a:schemeClr val="tx1"/>
          </a:solidFill>
          <a:latin typeface="+mn-lt"/>
          <a:cs typeface="+mn-cs"/>
        </a:defRPr>
      </a:lvl4pPr>
      <a:lvl5pPr marL="17811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5pPr>
      <a:lvl6pPr marL="22383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6pPr>
      <a:lvl7pPr marL="26955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7pPr>
      <a:lvl8pPr marL="31527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8pPr>
      <a:lvl9pPr marL="36099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231775"/>
            <a:ext cx="6629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for Slide Title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447800"/>
            <a:ext cx="86868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415" name="Picture 16" descr="informal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11150"/>
            <a:ext cx="685800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250825" y="1196975"/>
            <a:ext cx="8642350" cy="0"/>
          </a:xfrm>
          <a:prstGeom prst="line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250825" y="1341438"/>
            <a:ext cx="8642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7419" name="Picture 11" descr="AML_logo_3 copy"/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66700"/>
            <a:ext cx="108585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1588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9pPr>
    </p:titleStyle>
    <p:bodyStyle>
      <a:lvl1pPr marL="234950" indent="-23495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31825" indent="-282575" algn="l" rtl="0" fontAlgn="base">
        <a:spcBef>
          <a:spcPct val="20000"/>
        </a:spcBef>
        <a:spcAft>
          <a:spcPct val="0"/>
        </a:spcAft>
        <a:buSzPct val="80000"/>
        <a:buFont typeface="Arial" charset="0"/>
        <a:buChar char="─"/>
        <a:defRPr sz="2000">
          <a:solidFill>
            <a:schemeClr val="tx1"/>
          </a:solidFill>
          <a:latin typeface="+mn-lt"/>
          <a:cs typeface="+mn-cs"/>
        </a:defRPr>
      </a:lvl2pPr>
      <a:lvl3pPr marL="977900" indent="-231775" algn="l" rtl="0" fontAlgn="base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3pPr>
      <a:lvl4pPr marL="1377950" indent="-285750" algn="l" rtl="0" fontAlgn="base">
        <a:spcBef>
          <a:spcPct val="20000"/>
        </a:spcBef>
        <a:spcAft>
          <a:spcPct val="0"/>
        </a:spcAft>
        <a:buSzPct val="80000"/>
        <a:buFont typeface="Arial Unicode MS" pitchFamily="34" charset="-128"/>
        <a:buChar char="→"/>
        <a:defRPr sz="1600">
          <a:solidFill>
            <a:schemeClr val="tx1"/>
          </a:solidFill>
          <a:latin typeface="+mn-lt"/>
          <a:cs typeface="+mn-cs"/>
        </a:defRPr>
      </a:lvl4pPr>
      <a:lvl5pPr marL="17811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5pPr>
      <a:lvl6pPr marL="22383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6pPr>
      <a:lvl7pPr marL="26955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7pPr>
      <a:lvl8pPr marL="31527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8pPr>
      <a:lvl9pPr marL="36099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02276" y="2158232"/>
            <a:ext cx="8139448" cy="2092036"/>
          </a:xfrm>
        </p:spPr>
        <p:txBody>
          <a:bodyPr/>
          <a:lstStyle/>
          <a:p>
            <a:r>
              <a:rPr lang="en-US" b="1" dirty="0"/>
              <a:t>ME 599 J, K / IND E 599 A</a:t>
            </a:r>
            <a:br>
              <a:rPr lang="en-US" b="1" dirty="0"/>
            </a:br>
            <a:r>
              <a:rPr lang="en-US" b="1" dirty="0"/>
              <a:t>AI/ML for Smart Manufacturing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Survey, Outlook and Overview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90562" y="4521443"/>
            <a:ext cx="7762875" cy="509137"/>
          </a:xfrm>
        </p:spPr>
        <p:txBody>
          <a:bodyPr/>
          <a:lstStyle/>
          <a:p>
            <a:r>
              <a:rPr lang="de-DE" dirty="0"/>
              <a:t>Professor Ashis G. Banerjee</a:t>
            </a:r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399244" y="5030581"/>
            <a:ext cx="83455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/>
              <a:t>March 30, 2026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92586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Rai, R., Tiwari, M.K., Ivanov, D. and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Dolgui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A., 2021. Machine learning in manufacturing and industry 4.0 applications.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Production Research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59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(16), pp.4773-4778.</a:t>
            </a:r>
            <a:endParaRPr lang="en-US" dirty="0"/>
          </a:p>
          <a:p>
            <a:pPr>
              <a:buFont typeface="+mj-lt"/>
              <a:buAutoNum type="arabicPeriod"/>
            </a:pPr>
            <a:endParaRPr lang="en-US" sz="800" dirty="0"/>
          </a:p>
          <a:p>
            <a:pPr marL="457200" indent="-457200"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Dogan, A. and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Birant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D., 2021. Machine learning and data mining in manufacturing.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Expert Systems with Applications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166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p.114060.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9258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60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70B2EF-9989-5F96-F3CA-F63C65283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1024467"/>
          </a:xfrm>
        </p:spPr>
        <p:txBody>
          <a:bodyPr/>
          <a:lstStyle/>
          <a:p>
            <a:r>
              <a:rPr lang="en-US" dirty="0"/>
              <a:t>Industry 4.0 is characterized by</a:t>
            </a:r>
          </a:p>
          <a:p>
            <a:pPr lvl="1"/>
            <a:r>
              <a:rPr lang="en-US" dirty="0"/>
              <a:t>Connectivity, intelligence, and flexible automation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BC8D3FE0-2310-C729-5CBF-2E0A27705BD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43000" y="231775"/>
                <a:ext cx="7772400" cy="838200"/>
              </a:xfrm>
            </p:spPr>
            <p:txBody>
              <a:bodyPr/>
              <a:lstStyle/>
              <a:p>
                <a:r>
                  <a:rPr lang="en-US" dirty="0"/>
                  <a:t>Industry 4.0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Smart Manufacturing [1]</a:t>
                </a: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BC8D3FE0-2310-C729-5CBF-2E0A27705B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43000" y="231775"/>
                <a:ext cx="7772400" cy="838200"/>
              </a:xfrm>
              <a:blipFill>
                <a:blip r:embed="rId2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55F205D-A61A-3C02-DD84-D46F5A0D0D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92586"/>
            <a:ext cx="914400" cy="91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ED3FF8-5BDD-65BE-4711-0FEE64F97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477" y="2305474"/>
            <a:ext cx="4572000" cy="41605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0E3563-4BF9-AF3A-1977-36B052FD3A0B}"/>
              </a:ext>
            </a:extLst>
          </p:cNvPr>
          <p:cNvSpPr txBox="1"/>
          <p:nvPr/>
        </p:nvSpPr>
        <p:spPr>
          <a:xfrm>
            <a:off x="6205361" y="4031791"/>
            <a:ext cx="25851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What about cybersecurity and embodied AI? </a:t>
            </a:r>
          </a:p>
        </p:txBody>
      </p:sp>
    </p:spTree>
    <p:extLst>
      <p:ext uri="{BB962C8B-B14F-4D97-AF65-F5344CB8AC3E}">
        <p14:creationId xmlns:p14="http://schemas.microsoft.com/office/powerpoint/2010/main" val="1020525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73915-7036-FBDF-6F5D-02F2DF537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3E317D-6CC8-3E2B-9CFE-B0CE6A206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31775"/>
            <a:ext cx="6725356" cy="838200"/>
          </a:xfrm>
        </p:spPr>
        <p:txBody>
          <a:bodyPr/>
          <a:lstStyle/>
          <a:p>
            <a:r>
              <a:rPr lang="en-US" dirty="0"/>
              <a:t>Role of AI &amp; ML [1]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C26DCA-287E-A566-BA19-6C63E785A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92586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550423-7AC9-D05B-F578-8F8331CFD8D3}"/>
              </a:ext>
            </a:extLst>
          </p:cNvPr>
          <p:cNvSpPr txBox="1"/>
          <p:nvPr/>
        </p:nvSpPr>
        <p:spPr>
          <a:xfrm>
            <a:off x="5764192" y="2105561"/>
            <a:ext cx="32987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Not always “big data” as data acquisition and labeling can be sometimes difficult and expensive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B1BBE0-58DC-0636-6E59-E1CA075E3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855" y="2002005"/>
            <a:ext cx="4572000" cy="39672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5F56C5-7A38-E77F-2358-7DF13F3E73D8}"/>
              </a:ext>
            </a:extLst>
          </p:cNvPr>
          <p:cNvSpPr txBox="1"/>
          <p:nvPr/>
        </p:nvSpPr>
        <p:spPr>
          <a:xfrm>
            <a:off x="5764191" y="3836582"/>
            <a:ext cx="320618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In addition to AM, defect analysis can be critical in other challenging and important processes such as nanofabrication, automated fiber placement, etc.</a:t>
            </a:r>
          </a:p>
        </p:txBody>
      </p:sp>
    </p:spTree>
    <p:extLst>
      <p:ext uri="{BB962C8B-B14F-4D97-AF65-F5344CB8AC3E}">
        <p14:creationId xmlns:p14="http://schemas.microsoft.com/office/powerpoint/2010/main" val="2449004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9E63E-EB3F-52AB-5A36-F56FE870D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7C3D09-800A-755A-F96E-E62F32A7D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Improved assembly line efficiency</a:t>
            </a:r>
          </a:p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Improved customer experience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Better inventory management</a:t>
            </a:r>
          </a:p>
          <a:p>
            <a:pPr lvl="1"/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Real-time visibility</a:t>
            </a:r>
          </a:p>
          <a:p>
            <a:pPr lvl="1"/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Route delivery optimization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Reduced errors and waste during product development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Predictive maintenance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Real-time asset management to minimize losses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Increased visibil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ity into supply chains</a:t>
            </a:r>
          </a:p>
          <a:p>
            <a:r>
              <a:rPr lang="en-US" b="0" i="0" dirty="0"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What about parts designs selection and materials discovery/selection?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E442C3-C4A5-82AA-87A5-5AAE6FFCE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[1]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3D57E0-0BE2-813E-841F-AE5A2ECF9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9258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436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40479-409F-444B-C5D2-EBBD2DEB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5E0D5A-62B9-37B8-0F02-CFA42FC12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Computer vision-based inspection and monitoring </a:t>
            </a:r>
          </a:p>
          <a:p>
            <a:pPr lvl="1"/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Automated inspection of IC wire bonding defects [3]</a:t>
            </a:r>
          </a:p>
          <a:p>
            <a:pPr lvl="1"/>
            <a:r>
              <a:rPr lang="en-US" dirty="0"/>
              <a:t>Soft sensor for floatation froth grade classification [4]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Fault detection </a:t>
            </a:r>
          </a:p>
          <a:p>
            <a:pPr lvl="1"/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Fault diagnosis of rolling bearing [5]</a:t>
            </a:r>
          </a:p>
          <a:p>
            <a:pPr lvl="1"/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Fault detection of industrial cold forging [6]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8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Process improvement and optimization </a:t>
            </a: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Utilization of different data sources for injection molding [7]</a:t>
            </a:r>
          </a:p>
          <a:p>
            <a:pPr lvl="1"/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Process mining in make-to-stock manufacturing [8]</a:t>
            </a:r>
          </a:p>
          <a:p>
            <a:pPr lvl="1"/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Optimized assembly line feeding mode selection [9]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8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Cloud manufacturing </a:t>
            </a: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Edge-based hybrid scheduling learning model [10]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33CEB1-463E-6437-B589-D4DFE2ABC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Areas [1]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E497B7-F9CF-461D-031A-0E337A2F9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9258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539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D90CE-4B38-EF87-9E0F-DBA83D54C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E3ABE0-19DB-4BBB-CD5F-8DD757E42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Manufacturing is undergoing a fundamental paradigm shift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8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Manufacturing environments are turning into cyber-physical systems where AI is indispensable</a:t>
            </a: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Additional applications include geometric processing, material informatics, and control of dynamic systems</a:t>
            </a: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8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Synergy of ML and physics is becoming crucial </a:t>
            </a: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Data generation can be difficult and expensive</a:t>
            </a: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8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Arial" panose="020B0604020202020204" pitchFamily="34" charset="0"/>
              </a:rPr>
              <a:t>Anything not discussed?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AB568C-4371-AD22-AAB0-03FB6A33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[1]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D5D636-FB2C-44EB-01A8-C996A50BB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9258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270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83B17-EE70-02D8-BB19-BBDDC8DB2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378CF3-95C4-FFF2-CBF7-8748EC378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65956"/>
            <a:ext cx="8686800" cy="5492044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Chen, J., Zhang, Z. and Wu, F., 2021. A data-driven method for enhancing the image-based automatic inspection of IC wire bonding defects. 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Production </a:t>
            </a:r>
            <a:r>
              <a:rPr lang="en-US" sz="1400" i="1" dirty="0">
                <a:solidFill>
                  <a:srgbClr val="222222"/>
                </a:solidFill>
                <a:latin typeface="Arial" panose="020B0604020202020204" pitchFamily="34" charset="0"/>
              </a:rPr>
              <a:t>R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esearch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59(16), pp.4779-4793.</a:t>
            </a:r>
            <a:endParaRPr lang="en-US" sz="1400" dirty="0"/>
          </a:p>
          <a:p>
            <a:pPr>
              <a:buFont typeface="+mj-lt"/>
              <a:buAutoNum type="arabicPeriod" startAt="3"/>
            </a:pPr>
            <a:endParaRPr lang="en-US" sz="300" dirty="0"/>
          </a:p>
          <a:p>
            <a:pPr marL="457200" indent="-457200">
              <a:buFont typeface="+mj-lt"/>
              <a:buAutoNum type="arabicPeriod" startAt="3"/>
            </a:pP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Zhang, D. and Gao, X., 2021. Soft sensor of flotation froth grade classification based on hybrid deep neural network. 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Production Research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59(16), pp.4794-4810.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3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Wang, Z., Liu, Q., Chen, H. and Chu, X., 2021. A deformable CNN-DLSTM based transfer learning method for fault diagnosis of rolling bearing under multiple working conditions. 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Production Research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59(16), pp.4811-4825.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3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Glaeser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A., Selvaraj, V., Lee, S., Hwang, Y., Lee, K., Lee, N., Lee, S. and Min, S., 2021. Applications of deep learning for fault detection in industrial cold forging. 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Production Research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59(16), pp.4826-4835.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3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Rønsch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G.Ø.,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Kulahci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 and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Dybdahl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2021. An investigation of the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utilisation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of different data sources in manufacturing with application in injection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moulding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Production Research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59(16), pp.4851-4868.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3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Lorenz, R.,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Senoner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J.,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Sihn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W. and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Netland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T., 2021. Using process mining to improve productivity in make-to-stock manufacturing. 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Production Research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59(16), pp.4869-4880.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3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Zangaro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F.,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Minner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S. and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Battini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D., 2021. A supervised machine learning approach for the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optimisation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of the assembly line feeding mode selection. 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Production Research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59(16), pp.4881-4902.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3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1400" dirty="0"/>
              <a:t>Jian, C., Ping, J. and Zhang, M., 2021. A cloud edge-based two-level hybrid scheduling learning model in cloud manufacturing. </a:t>
            </a:r>
            <a:r>
              <a:rPr lang="en-US" sz="1400" i="1" dirty="0"/>
              <a:t>International Journal of Production Research</a:t>
            </a:r>
            <a:r>
              <a:rPr lang="en-US" sz="1400" dirty="0"/>
              <a:t>, 59(16), pp.4836-4850.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512617-B2AF-3395-0642-B6D8771DA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6689AA-F08F-4044-A70D-A06AE8566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9258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092697"/>
      </p:ext>
    </p:extLst>
  </p:cSld>
  <p:clrMapOvr>
    <a:masterClrMapping/>
  </p:clrMapOvr>
</p:sld>
</file>

<file path=ppt/theme/theme1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Book Antiqua"/>
        <a:ea typeface="ＭＳ 明朝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7030A0"/>
          </a:solidFill>
          <a:prstDash val="solid"/>
          <a:round/>
          <a:headEnd type="none" w="med" len="med"/>
          <a:tailEnd type="triangle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rtlCol="0">
        <a:spAutoFit/>
      </a:bodyPr>
      <a:lstStyle>
        <a:defPPr>
          <a:defRPr smtClean="0">
            <a:solidFill>
              <a:srgbClr val="7030A0"/>
            </a:solidFill>
          </a:defRPr>
        </a:defPPr>
      </a:lstStyle>
    </a:tx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Default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Book Antiqua"/>
        <a:ea typeface="ＭＳ 明朝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103548</TotalTime>
  <Words>738</Words>
  <Application>Microsoft Macintosh PowerPoint</Application>
  <PresentationFormat>On-screen Show (4:3)</PresentationFormat>
  <Paragraphs>101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 Unicode MS</vt:lpstr>
      <vt:lpstr>Arial</vt:lpstr>
      <vt:lpstr>Book Antiqua</vt:lpstr>
      <vt:lpstr>Cambria Math</vt:lpstr>
      <vt:lpstr>Wingdings</vt:lpstr>
      <vt:lpstr>2_Default Design</vt:lpstr>
      <vt:lpstr>3_Default Design</vt:lpstr>
      <vt:lpstr>ME 599 J, K / IND E 599 A AI/ML for Smart Manufacturing  Survey, Outlook and Overview</vt:lpstr>
      <vt:lpstr>Papers</vt:lpstr>
      <vt:lpstr>Industry 4.0 ⇒ Smart Manufacturing [1]</vt:lpstr>
      <vt:lpstr>Role of AI &amp; ML [1]</vt:lpstr>
      <vt:lpstr>Applications [1]</vt:lpstr>
      <vt:lpstr>Focus Areas [1]</vt:lpstr>
      <vt:lpstr>Conclusions [1]</vt:lpstr>
      <vt:lpstr>References</vt:lpstr>
    </vt:vector>
  </TitlesOfParts>
  <Company>SKG Lab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UMCP</dc:creator>
  <cp:lastModifiedBy>Ashis G. Banerjee</cp:lastModifiedBy>
  <cp:revision>2519</cp:revision>
  <cp:lastPrinted>2016-01-22T23:20:15Z</cp:lastPrinted>
  <dcterms:created xsi:type="dcterms:W3CDTF">2008-05-05T16:40:45Z</dcterms:created>
  <dcterms:modified xsi:type="dcterms:W3CDTF">2026-03-30T21:32:45Z</dcterms:modified>
</cp:coreProperties>
</file>