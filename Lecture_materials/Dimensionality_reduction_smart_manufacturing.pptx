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64" r:id="rId2"/>
  </p:sldMasterIdLst>
  <p:notesMasterIdLst>
    <p:notesMasterId r:id="rId11"/>
  </p:notesMasterIdLst>
  <p:sldIdLst>
    <p:sldId id="258" r:id="rId3"/>
    <p:sldId id="284" r:id="rId4"/>
    <p:sldId id="285" r:id="rId5"/>
    <p:sldId id="291" r:id="rId6"/>
    <p:sldId id="289" r:id="rId7"/>
    <p:sldId id="293" r:id="rId8"/>
    <p:sldId id="295" r:id="rId9"/>
    <p:sldId id="294" r:id="rId1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8000"/>
    <a:srgbClr val="00CC00"/>
    <a:srgbClr val="FF00FF"/>
    <a:srgbClr val="00FF00"/>
    <a:srgbClr val="F6F6E7"/>
    <a:srgbClr val="CCCC00"/>
    <a:srgbClr val="ECECCB"/>
    <a:srgbClr val="FF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19" autoAdjust="0"/>
    <p:restoredTop sz="95238" autoAdjust="0"/>
  </p:normalViewPr>
  <p:slideViewPr>
    <p:cSldViewPr snapToGrid="0">
      <p:cViewPr varScale="1">
        <p:scale>
          <a:sx n="110" d="100"/>
          <a:sy n="110" d="100"/>
        </p:scale>
        <p:origin x="1120" y="168"/>
      </p:cViewPr>
      <p:guideLst>
        <p:guide orient="horz" pos="2160"/>
        <p:guide pos="2880"/>
      </p:guideLst>
    </p:cSldViewPr>
  </p:slideViewPr>
  <p:notesTextViewPr>
    <p:cViewPr>
      <p:scale>
        <a:sx n="68" d="100"/>
        <a:sy n="68" d="100"/>
      </p:scale>
      <p:origin x="0" y="0"/>
    </p:cViewPr>
  </p:notesTextViewPr>
  <p:sorterViewPr>
    <p:cViewPr>
      <p:scale>
        <a:sx n="45" d="100"/>
        <a:sy n="45" d="100"/>
      </p:scale>
      <p:origin x="0" y="3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F1BEBA-C63F-41E0-B90D-DFD8867F21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259857-FC35-4D63-A5CC-15EEC75C56C8}" type="slidenum">
              <a:rPr lang="en-US"/>
              <a:pPr/>
              <a:t>1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05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50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684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43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320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1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750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81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42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3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2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08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123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20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040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178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57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6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58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651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6916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31775"/>
            <a:ext cx="2171700" cy="6245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31775"/>
            <a:ext cx="6362700" cy="6245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421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215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2672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333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31775"/>
            <a:ext cx="6629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447800"/>
            <a:ext cx="42672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447800"/>
            <a:ext cx="4267200" cy="5029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3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231775"/>
            <a:ext cx="662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for Slide Title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686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415" name="Picture 16" descr="informal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1150"/>
            <a:ext cx="6858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50825" y="1196975"/>
            <a:ext cx="864235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50825" y="1341438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7419" name="Picture 11" descr="AML_logo_3 copy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6700"/>
            <a:ext cx="108585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5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003399"/>
          </a:solidFill>
          <a:latin typeface="Book Antiqua" pitchFamily="18" charset="0"/>
          <a:ea typeface="ＭＳ 明朝" pitchFamily="49" charset="-128"/>
          <a:cs typeface="Arial" charset="0"/>
        </a:defRPr>
      </a:lvl9pPr>
    </p:titleStyle>
    <p:bodyStyle>
      <a:lvl1pPr marL="234950" indent="-23495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31825" indent="-282575" algn="l" rtl="0" fontAlgn="base">
        <a:spcBef>
          <a:spcPct val="20000"/>
        </a:spcBef>
        <a:spcAft>
          <a:spcPct val="0"/>
        </a:spcAft>
        <a:buSzPct val="80000"/>
        <a:buFont typeface="Arial" charset="0"/>
        <a:buChar char="─"/>
        <a:defRPr sz="2000">
          <a:solidFill>
            <a:schemeClr val="tx1"/>
          </a:solidFill>
          <a:latin typeface="+mn-lt"/>
          <a:cs typeface="+mn-cs"/>
        </a:defRPr>
      </a:lvl2pPr>
      <a:lvl3pPr marL="977900" indent="-231775" algn="l" rtl="0" fontAlgn="base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3pPr>
      <a:lvl4pPr marL="1377950" indent="-285750" algn="l" rtl="0" fontAlgn="base">
        <a:spcBef>
          <a:spcPct val="20000"/>
        </a:spcBef>
        <a:spcAft>
          <a:spcPct val="0"/>
        </a:spcAft>
        <a:buSzPct val="80000"/>
        <a:buFont typeface="Arial Unicode MS" pitchFamily="34" charset="-128"/>
        <a:buChar char="→"/>
        <a:defRPr sz="1600">
          <a:solidFill>
            <a:schemeClr val="tx1"/>
          </a:solidFill>
          <a:latin typeface="+mn-lt"/>
          <a:cs typeface="+mn-cs"/>
        </a:defRPr>
      </a:lvl4pPr>
      <a:lvl5pPr marL="17811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5pPr>
      <a:lvl6pPr marL="22383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6pPr>
      <a:lvl7pPr marL="26955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7pPr>
      <a:lvl8pPr marL="31527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8pPr>
      <a:lvl9pPr marL="3609975" indent="-288925" algn="l" rtl="0" fontAlgn="base">
        <a:spcBef>
          <a:spcPct val="20000"/>
        </a:spcBef>
        <a:spcAft>
          <a:spcPct val="0"/>
        </a:spcAft>
        <a:buFont typeface="Arial" charset="0"/>
        <a:buBlip>
          <a:blip/>
        </a:buBlip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2276" y="2158232"/>
            <a:ext cx="8139448" cy="2092036"/>
          </a:xfrm>
        </p:spPr>
        <p:txBody>
          <a:bodyPr/>
          <a:lstStyle/>
          <a:p>
            <a:r>
              <a:rPr lang="en-US" b="1" dirty="0"/>
              <a:t>ME 599 J, K / IND E 599 A</a:t>
            </a:r>
            <a:br>
              <a:rPr lang="en-US" b="1" dirty="0"/>
            </a:br>
            <a:r>
              <a:rPr lang="en-US" b="1" dirty="0"/>
              <a:t>AI/ML for Smart Manufacturing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Dimensionality Reduction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562" y="4521443"/>
            <a:ext cx="7762875" cy="509137"/>
          </a:xfrm>
        </p:spPr>
        <p:txBody>
          <a:bodyPr/>
          <a:lstStyle/>
          <a:p>
            <a:r>
              <a:rPr lang="de-DE" dirty="0"/>
              <a:t>Professor Ashis G. Banerjee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99244" y="5030581"/>
            <a:ext cx="8345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March 30 – April 06, 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2586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A3673-4AFA-00F9-828C-CA773E729F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Alleviate the </a:t>
                </a:r>
                <a:r>
                  <a:rPr lang="en-US" i="1" dirty="0"/>
                  <a:t>curse of dimensionality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≫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or even just a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dirty="0"/>
                  <a:t> can lead to several issues</a:t>
                </a:r>
              </a:p>
              <a:p>
                <a:pPr lvl="2"/>
                <a:r>
                  <a:rPr lang="en-US" dirty="0"/>
                  <a:t>Long model training time</a:t>
                </a:r>
              </a:p>
              <a:p>
                <a:pPr lvl="2"/>
                <a:r>
                  <a:rPr lang="en-US" dirty="0"/>
                  <a:t>Model overfitting (inadequate generalization)</a:t>
                </a:r>
              </a:p>
              <a:p>
                <a:pPr lvl="2"/>
                <a:r>
                  <a:rPr lang="en-US" dirty="0"/>
                  <a:t>Presence of correlated features (problem for downstream classification / regression)</a:t>
                </a:r>
              </a:p>
              <a:p>
                <a:pPr lvl="2"/>
                <a:r>
                  <a:rPr lang="en-US" dirty="0"/>
                  <a:t>Lack of model interpretability</a:t>
                </a:r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A3673-4AFA-00F9-828C-CA773E729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2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0C5C554-A1F3-A611-6908-C4AA29DF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34963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34068A-60C8-E777-82EF-5EA517D3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67556"/>
            <a:ext cx="8686800" cy="5197858"/>
          </a:xfrm>
        </p:spPr>
        <p:txBody>
          <a:bodyPr/>
          <a:lstStyle/>
          <a:p>
            <a:r>
              <a:rPr lang="en-US" dirty="0"/>
              <a:t>Find the most </a:t>
            </a:r>
            <a:r>
              <a:rPr lang="en-US" i="1" dirty="0"/>
              <a:t>suitable subset </a:t>
            </a:r>
            <a:r>
              <a:rPr lang="en-US" dirty="0"/>
              <a:t>of input variables (features or predictors) for a given ML task</a:t>
            </a:r>
          </a:p>
          <a:p>
            <a:pPr lvl="1"/>
            <a:endParaRPr lang="en-US" sz="800" dirty="0"/>
          </a:p>
          <a:p>
            <a:r>
              <a:rPr lang="en-US" dirty="0"/>
              <a:t>Approaches</a:t>
            </a:r>
          </a:p>
          <a:p>
            <a:pPr lvl="1"/>
            <a:r>
              <a:rPr lang="en-US" dirty="0"/>
              <a:t>Filtering</a:t>
            </a:r>
          </a:p>
          <a:p>
            <a:pPr lvl="2"/>
            <a:r>
              <a:rPr lang="en-US" dirty="0"/>
              <a:t>Identify the most </a:t>
            </a:r>
            <a:r>
              <a:rPr lang="en-US" i="1" dirty="0"/>
              <a:t>relevant</a:t>
            </a:r>
            <a:r>
              <a:rPr lang="en-US" dirty="0"/>
              <a:t> features using statistical tests, such as pairwise Pearson’s correlation for continuous features and ANOVA for categorical features (with continuous response variables)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How about detecting non-linear relationships among the features? </a:t>
            </a:r>
          </a:p>
          <a:p>
            <a:pPr lvl="3"/>
            <a:r>
              <a:rPr lang="en-US" dirty="0">
                <a:solidFill>
                  <a:srgbClr val="7030A0"/>
                </a:solidFill>
              </a:rPr>
              <a:t>Mutual information is widely used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What about continuous features and categorical response variables? 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What about categorical features and categorical response variables?</a:t>
            </a:r>
          </a:p>
          <a:p>
            <a:pPr lvl="1"/>
            <a:r>
              <a:rPr lang="en-US" dirty="0"/>
              <a:t>Incremental addition or deletion</a:t>
            </a:r>
          </a:p>
          <a:p>
            <a:pPr lvl="2"/>
            <a:r>
              <a:rPr lang="en-US" dirty="0"/>
              <a:t>Add (or, remove) one feature at a time based on whether prediction accuracy (or, some other performance measure) is increased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AE3AB0-5B02-89AF-00E0-5A8C509C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81846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7D94-7CB3-FB63-FA16-D68BF6CD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0C8405-AC74-ABA9-7146-01AF22A71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Kernel PCA</a:t>
            </a:r>
          </a:p>
          <a:p>
            <a:pPr lvl="1"/>
            <a:r>
              <a:rPr lang="en-US" dirty="0"/>
              <a:t>Extend PCA to extract non-linear mappings (among the features) that maximize the variance in the data</a:t>
            </a:r>
          </a:p>
          <a:p>
            <a:pPr lvl="1"/>
            <a:r>
              <a:rPr lang="en-US" dirty="0"/>
              <a:t>Done using ‘kernel trick’ where the linear PCA operations (eigen decompositions) are now performed in a reproducing kernel Hilbert space (RKHS)</a:t>
            </a:r>
          </a:p>
          <a:p>
            <a:pPr lvl="1"/>
            <a:endParaRPr lang="en-US" sz="800" dirty="0"/>
          </a:p>
          <a:p>
            <a:r>
              <a:rPr lang="en-US" dirty="0"/>
              <a:t>Manifold learning </a:t>
            </a:r>
          </a:p>
          <a:p>
            <a:pPr lvl="1"/>
            <a:r>
              <a:rPr lang="en-US" dirty="0"/>
              <a:t>Several methods exist, many of which define a graph-based kernel</a:t>
            </a:r>
          </a:p>
          <a:p>
            <a:pPr lvl="2"/>
            <a:r>
              <a:rPr lang="en-US" dirty="0"/>
              <a:t>Multidimensional scaling (MDS): Direct analogue of PCA</a:t>
            </a:r>
          </a:p>
          <a:p>
            <a:pPr lvl="2"/>
            <a:r>
              <a:rPr lang="en-US" dirty="0"/>
              <a:t>Isometric feature mapping (ISOMAP): Uses geodesic distance</a:t>
            </a:r>
          </a:p>
          <a:p>
            <a:pPr lvl="2"/>
            <a:r>
              <a:rPr lang="en-US" dirty="0"/>
              <a:t>Diffusion maps: Uses diffusion distance</a:t>
            </a:r>
          </a:p>
          <a:p>
            <a:pPr lvl="2"/>
            <a:r>
              <a:rPr lang="en-US" i="1" dirty="0"/>
              <a:t>t</a:t>
            </a:r>
            <a:r>
              <a:rPr lang="en-US" dirty="0"/>
              <a:t>-distributed stochastic neighbor embedding (t-SNE): Minimizes the divergence between distributions over pairs of points</a:t>
            </a:r>
          </a:p>
          <a:p>
            <a:pPr lvl="2"/>
            <a:r>
              <a:rPr lang="en-US" dirty="0"/>
              <a:t>Autoencoders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82124F-3696-4325-BC93-DB4065AA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Extraction: Non-Linear PCA-Based Methods</a:t>
            </a:r>
          </a:p>
        </p:txBody>
      </p:sp>
    </p:spTree>
    <p:extLst>
      <p:ext uri="{BB962C8B-B14F-4D97-AF65-F5344CB8AC3E}">
        <p14:creationId xmlns:p14="http://schemas.microsoft.com/office/powerpoint/2010/main" val="56849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C7CA-8F90-4BB3-3765-5D519940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C1FC50-457B-7144-BE9E-963C6FAD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599311" cy="2082478"/>
          </a:xfrm>
        </p:spPr>
        <p:txBody>
          <a:bodyPr/>
          <a:lstStyle/>
          <a:p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Liu, C., Kong, Z., Babu, S., Joslin, C. and Ferguson, J., 2021. An integrated manifold learning approach for high-dimensional data feature extractions and its applications to online process monitoring of additive manufacturing.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IISE Transactions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2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53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(11), pp.1215-1230.</a:t>
            </a:r>
          </a:p>
          <a:p>
            <a:pPr lvl="1"/>
            <a:r>
              <a:rPr lang="en-US" dirty="0"/>
              <a:t>Integration of ISOMAP with multi-kernel metric learning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E3BF4-ABF1-B8B1-9E16-A9D27EF9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89" y="231775"/>
            <a:ext cx="8599311" cy="838200"/>
          </a:xfrm>
        </p:spPr>
        <p:txBody>
          <a:bodyPr/>
          <a:lstStyle/>
          <a:p>
            <a:r>
              <a:rPr lang="en-US" dirty="0"/>
              <a:t>Case Study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1AF00-7E46-4209-D514-4A2A03FFB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56" y="3298250"/>
            <a:ext cx="6279888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E46AE2-8A1D-8B7D-3D73-356C328FE3F1}"/>
              </a:ext>
            </a:extLst>
          </p:cNvPr>
          <p:cNvSpPr txBox="1"/>
          <p:nvPr/>
        </p:nvSpPr>
        <p:spPr>
          <a:xfrm>
            <a:off x="1432056" y="6041450"/>
            <a:ext cx="3183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Euclidean distance not useful when samples lie on a manifold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47F8F-1E6C-8495-B431-60742A9E0B10}"/>
              </a:ext>
            </a:extLst>
          </p:cNvPr>
          <p:cNvSpPr txBox="1"/>
          <p:nvPr/>
        </p:nvSpPr>
        <p:spPr>
          <a:xfrm>
            <a:off x="4659489" y="6041450"/>
            <a:ext cx="3183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Geodesic distance provides meaningful similarity measure</a:t>
            </a:r>
          </a:p>
        </p:txBody>
      </p:sp>
    </p:spTree>
    <p:extLst>
      <p:ext uri="{BB962C8B-B14F-4D97-AF65-F5344CB8AC3E}">
        <p14:creationId xmlns:p14="http://schemas.microsoft.com/office/powerpoint/2010/main" val="847200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A9C1-ABC3-4454-90D8-5F24831C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CFE5FF-0FCD-B6B4-D0F5-DE449B8B2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599311" cy="4953000"/>
          </a:xfrm>
        </p:spPr>
        <p:txBody>
          <a:bodyPr/>
          <a:lstStyle/>
          <a:p>
            <a:r>
              <a:rPr lang="en-US" dirty="0"/>
              <a:t>ISOMAP leads to meaningful clustering of samples in lower dimensions but requires high sampling rates and low noise levels which is challenging for process monitoring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Develop a new multi-kernel function defined by a conical sum-based linear combination of multiple kernel basis</a:t>
            </a:r>
          </a:p>
          <a:p>
            <a:pPr lvl="1"/>
            <a:r>
              <a:rPr lang="en-US" dirty="0"/>
              <a:t>Provides a parametric representation of geodesic distance that is more robust to noise and easier to compute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D27D41-871D-3C6F-14AB-32276993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89" y="231775"/>
            <a:ext cx="8599311" cy="838200"/>
          </a:xfrm>
        </p:spPr>
        <p:txBody>
          <a:bodyPr/>
          <a:lstStyle/>
          <a:p>
            <a:r>
              <a:rPr lang="en-US" dirty="0"/>
              <a:t>Case Study: Core Contributions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1B8B5-009E-9DA3-FF6A-04FE0FB7C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44" y="2762210"/>
            <a:ext cx="8229600" cy="2134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207AA-DA33-0505-7ED5-2039424D8CF4}"/>
              </a:ext>
            </a:extLst>
          </p:cNvPr>
          <p:cNvSpPr txBox="1"/>
          <p:nvPr/>
        </p:nvSpPr>
        <p:spPr>
          <a:xfrm>
            <a:off x="413456" y="4896570"/>
            <a:ext cx="318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Swiss roll-shaped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C770F-DB3B-578A-B1A9-EFF1AE72E7DA}"/>
              </a:ext>
            </a:extLst>
          </p:cNvPr>
          <p:cNvSpPr txBox="1"/>
          <p:nvPr/>
        </p:nvSpPr>
        <p:spPr>
          <a:xfrm>
            <a:off x="3116497" y="4885474"/>
            <a:ext cx="318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Clustering after PCA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0394A-D6FA-E1DC-8E88-EFDEB9D89CAF}"/>
              </a:ext>
            </a:extLst>
          </p:cNvPr>
          <p:cNvSpPr txBox="1"/>
          <p:nvPr/>
        </p:nvSpPr>
        <p:spPr>
          <a:xfrm>
            <a:off x="5644221" y="4885474"/>
            <a:ext cx="3183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Clustering after ISOMAP</a:t>
            </a:r>
          </a:p>
        </p:txBody>
      </p:sp>
    </p:spTree>
    <p:extLst>
      <p:ext uri="{BB962C8B-B14F-4D97-AF65-F5344CB8AC3E}">
        <p14:creationId xmlns:p14="http://schemas.microsoft.com/office/powerpoint/2010/main" val="204124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1F92-7530-F302-F33C-CF0E064E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Overall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F7B582-1188-DDE1-D1EE-8DC4B643D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54400"/>
            <a:ext cx="6400800" cy="2333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86EABE-FF95-3171-96D0-E850BBFC3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987257"/>
            <a:ext cx="64008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4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30C9-1953-D4C2-BE2E-1CC05E7E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System &amp;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7B94A-6BA3-B9E4-CE27-ED544E366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67" y="1609042"/>
            <a:ext cx="4205378" cy="228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3AE8BB-811B-1132-7DCC-44658003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455" y="1609042"/>
            <a:ext cx="2991745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8DF561-46C0-A52C-194F-E463434EF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35" y="4516019"/>
            <a:ext cx="4548918" cy="1920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3EAB28-C7EF-F846-A361-30C3925A5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054" y="4516019"/>
            <a:ext cx="3950998" cy="1920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29AFC6-62DA-5AE7-891B-8D5C00338EF2}"/>
              </a:ext>
            </a:extLst>
          </p:cNvPr>
          <p:cNvSpPr txBox="1"/>
          <p:nvPr/>
        </p:nvSpPr>
        <p:spPr>
          <a:xfrm>
            <a:off x="1085811" y="3849334"/>
            <a:ext cx="3183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Schematic of online sensing system for FDM machine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FB5BE-5A1D-8BE1-23CF-9AD0674E2FFA}"/>
              </a:ext>
            </a:extLst>
          </p:cNvPr>
          <p:cNvSpPr txBox="1"/>
          <p:nvPr/>
        </p:nvSpPr>
        <p:spPr>
          <a:xfrm>
            <a:off x="659757" y="6409740"/>
            <a:ext cx="8243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Process state identification using MKML-ISOMAP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F578D-7210-C013-2BCB-98F1D96D8D5A}"/>
              </a:ext>
            </a:extLst>
          </p:cNvPr>
          <p:cNvSpPr txBox="1"/>
          <p:nvPr/>
        </p:nvSpPr>
        <p:spPr>
          <a:xfrm>
            <a:off x="4735721" y="3849333"/>
            <a:ext cx="3945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(a) Image acquisition system; (b): Defect-free surface; (c) Surface w/ defect</a:t>
            </a:r>
          </a:p>
        </p:txBody>
      </p:sp>
    </p:spTree>
    <p:extLst>
      <p:ext uri="{BB962C8B-B14F-4D97-AF65-F5344CB8AC3E}">
        <p14:creationId xmlns:p14="http://schemas.microsoft.com/office/powerpoint/2010/main" val="819546028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7030A0"/>
          </a:solidFill>
          <a:prstDash val="solid"/>
          <a:round/>
          <a:headEnd type="none" w="med" len="med"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7030A0"/>
            </a:solidFill>
          </a:defRPr>
        </a:defPPr>
      </a:lstStyle>
    </a:tx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Book Antiqua"/>
        <a:ea typeface="ＭＳ 明朝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104230</TotalTime>
  <Words>494</Words>
  <Application>Microsoft Macintosh PowerPoint</Application>
  <PresentationFormat>On-screen Show (4:3)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 Unicode MS</vt:lpstr>
      <vt:lpstr>Arial</vt:lpstr>
      <vt:lpstr>Book Antiqua</vt:lpstr>
      <vt:lpstr>Cambria Math</vt:lpstr>
      <vt:lpstr>Wingdings</vt:lpstr>
      <vt:lpstr>2_Default Design</vt:lpstr>
      <vt:lpstr>3_Default Design</vt:lpstr>
      <vt:lpstr>ME 599 J, K / IND E 599 A AI/ML for Smart Manufacturing  Dimensionality Reduction</vt:lpstr>
      <vt:lpstr>Motivation</vt:lpstr>
      <vt:lpstr>Feature Selection</vt:lpstr>
      <vt:lpstr>Feature Extraction: Non-Linear PCA-Based Methods</vt:lpstr>
      <vt:lpstr>Case Study </vt:lpstr>
      <vt:lpstr>Case Study: Core Contributions</vt:lpstr>
      <vt:lpstr>Case Study: Overall Algorithm</vt:lpstr>
      <vt:lpstr>Case Study: System &amp; Results</vt:lpstr>
    </vt:vector>
  </TitlesOfParts>
  <Company>SKG Lab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UMCP</dc:creator>
  <cp:lastModifiedBy>Ashis G. Banerjee</cp:lastModifiedBy>
  <cp:revision>2661</cp:revision>
  <cp:lastPrinted>2016-01-22T23:20:15Z</cp:lastPrinted>
  <dcterms:created xsi:type="dcterms:W3CDTF">2008-05-05T16:40:45Z</dcterms:created>
  <dcterms:modified xsi:type="dcterms:W3CDTF">2026-04-06T20:22:59Z</dcterms:modified>
</cp:coreProperties>
</file>