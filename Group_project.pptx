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  <p:sldMasterId id="2147483664" r:id="rId2"/>
  </p:sldMasterIdLst>
  <p:notesMasterIdLst>
    <p:notesMasterId r:id="rId8"/>
  </p:notesMasterIdLst>
  <p:sldIdLst>
    <p:sldId id="258" r:id="rId3"/>
    <p:sldId id="283" r:id="rId4"/>
    <p:sldId id="284" r:id="rId5"/>
    <p:sldId id="285" r:id="rId6"/>
    <p:sldId id="286" r:id="rId7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008000"/>
    <a:srgbClr val="00CC00"/>
    <a:srgbClr val="FF00FF"/>
    <a:srgbClr val="00FF00"/>
    <a:srgbClr val="F6F6E7"/>
    <a:srgbClr val="CCCC00"/>
    <a:srgbClr val="ECECCB"/>
    <a:srgbClr val="FFFF99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00" autoAdjust="0"/>
    <p:restoredTop sz="95238" autoAdjust="0"/>
  </p:normalViewPr>
  <p:slideViewPr>
    <p:cSldViewPr snapToGrid="0">
      <p:cViewPr varScale="1">
        <p:scale>
          <a:sx n="111" d="100"/>
          <a:sy n="111" d="100"/>
        </p:scale>
        <p:origin x="1232" y="208"/>
      </p:cViewPr>
      <p:guideLst>
        <p:guide orient="horz" pos="2160"/>
        <p:guide pos="2880"/>
      </p:guideLst>
    </p:cSldViewPr>
  </p:slideViewPr>
  <p:notesTextViewPr>
    <p:cViewPr>
      <p:scale>
        <a:sx n="68" d="100"/>
        <a:sy n="68" d="100"/>
      </p:scale>
      <p:origin x="0" y="0"/>
    </p:cViewPr>
  </p:notesTextViewPr>
  <p:sorterViewPr>
    <p:cViewPr>
      <p:scale>
        <a:sx n="45" d="100"/>
        <a:sy n="45" d="100"/>
      </p:scale>
      <p:origin x="0" y="31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FF1BEBA-C63F-41E0-B90D-DFD8867F21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185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259857-FC35-4D63-A5CC-15EEC75C56C8}" type="slidenum">
              <a:rPr lang="en-US"/>
              <a:pPr/>
              <a:t>1</a:t>
            </a:fld>
            <a:endParaRPr lang="en-US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79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058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508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6845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3430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2320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815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01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750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0810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31775"/>
            <a:ext cx="2171700" cy="6245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31775"/>
            <a:ext cx="6362700" cy="6245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742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447800"/>
            <a:ext cx="4267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38600"/>
            <a:ext cx="4267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6037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62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0837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1233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0205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04053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11780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5728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946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15839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65163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69165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31775"/>
            <a:ext cx="2171700" cy="6245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31775"/>
            <a:ext cx="6362700" cy="6245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42168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42159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447800"/>
            <a:ext cx="4267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38600"/>
            <a:ext cx="4267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03331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3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231775"/>
            <a:ext cx="6629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for Slide Title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447800"/>
            <a:ext cx="86868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250825" y="1196975"/>
            <a:ext cx="8642350" cy="0"/>
          </a:xfrm>
          <a:prstGeom prst="line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250825" y="1341438"/>
            <a:ext cx="8642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9pPr>
    </p:titleStyle>
    <p:bodyStyle>
      <a:lvl1pPr marL="234950" indent="-23495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31825" indent="-282575" algn="l" rtl="0" fontAlgn="base">
        <a:spcBef>
          <a:spcPct val="20000"/>
        </a:spcBef>
        <a:spcAft>
          <a:spcPct val="0"/>
        </a:spcAft>
        <a:buSzPct val="80000"/>
        <a:buFont typeface="Arial" charset="0"/>
        <a:buChar char="─"/>
        <a:defRPr sz="2000">
          <a:solidFill>
            <a:schemeClr val="tx1"/>
          </a:solidFill>
          <a:latin typeface="+mn-lt"/>
          <a:cs typeface="+mn-cs"/>
        </a:defRPr>
      </a:lvl2pPr>
      <a:lvl3pPr marL="977900" indent="-231775" algn="l" rtl="0" fontAlgn="base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3pPr>
      <a:lvl4pPr marL="1377950" indent="-285750" algn="l" rtl="0" fontAlgn="base">
        <a:spcBef>
          <a:spcPct val="20000"/>
        </a:spcBef>
        <a:spcAft>
          <a:spcPct val="0"/>
        </a:spcAft>
        <a:buSzPct val="80000"/>
        <a:buFont typeface="Arial Unicode MS" pitchFamily="34" charset="-128"/>
        <a:buChar char="→"/>
        <a:defRPr sz="1600">
          <a:solidFill>
            <a:schemeClr val="tx1"/>
          </a:solidFill>
          <a:latin typeface="+mn-lt"/>
          <a:cs typeface="+mn-cs"/>
        </a:defRPr>
      </a:lvl4pPr>
      <a:lvl5pPr marL="17811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5pPr>
      <a:lvl6pPr marL="22383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6pPr>
      <a:lvl7pPr marL="26955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7pPr>
      <a:lvl8pPr marL="31527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8pPr>
      <a:lvl9pPr marL="36099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231775"/>
            <a:ext cx="6629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for Slide Title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447800"/>
            <a:ext cx="86868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415" name="Picture 16" descr="informal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11150"/>
            <a:ext cx="685800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250825" y="1196975"/>
            <a:ext cx="8642350" cy="0"/>
          </a:xfrm>
          <a:prstGeom prst="line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250825" y="1341438"/>
            <a:ext cx="8642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7419" name="Picture 11" descr="AML_logo_3 copy"/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66700"/>
            <a:ext cx="108585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1588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9pPr>
    </p:titleStyle>
    <p:bodyStyle>
      <a:lvl1pPr marL="234950" indent="-23495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31825" indent="-282575" algn="l" rtl="0" fontAlgn="base">
        <a:spcBef>
          <a:spcPct val="20000"/>
        </a:spcBef>
        <a:spcAft>
          <a:spcPct val="0"/>
        </a:spcAft>
        <a:buSzPct val="80000"/>
        <a:buFont typeface="Arial" charset="0"/>
        <a:buChar char="─"/>
        <a:defRPr sz="2000">
          <a:solidFill>
            <a:schemeClr val="tx1"/>
          </a:solidFill>
          <a:latin typeface="+mn-lt"/>
          <a:cs typeface="+mn-cs"/>
        </a:defRPr>
      </a:lvl2pPr>
      <a:lvl3pPr marL="977900" indent="-231775" algn="l" rtl="0" fontAlgn="base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3pPr>
      <a:lvl4pPr marL="1377950" indent="-285750" algn="l" rtl="0" fontAlgn="base">
        <a:spcBef>
          <a:spcPct val="20000"/>
        </a:spcBef>
        <a:spcAft>
          <a:spcPct val="0"/>
        </a:spcAft>
        <a:buSzPct val="80000"/>
        <a:buFont typeface="Arial Unicode MS" pitchFamily="34" charset="-128"/>
        <a:buChar char="→"/>
        <a:defRPr sz="1600">
          <a:solidFill>
            <a:schemeClr val="tx1"/>
          </a:solidFill>
          <a:latin typeface="+mn-lt"/>
          <a:cs typeface="+mn-cs"/>
        </a:defRPr>
      </a:lvl4pPr>
      <a:lvl5pPr marL="17811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5pPr>
      <a:lvl6pPr marL="22383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6pPr>
      <a:lvl7pPr marL="26955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7pPr>
      <a:lvl8pPr marL="31527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8pPr>
      <a:lvl9pPr marL="36099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eee.org/conferences/publishing/templat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02276" y="2158232"/>
            <a:ext cx="8139448" cy="2092036"/>
          </a:xfrm>
        </p:spPr>
        <p:txBody>
          <a:bodyPr/>
          <a:lstStyle/>
          <a:p>
            <a:r>
              <a:rPr lang="en-US" b="1" dirty="0"/>
              <a:t>ME 599 J, K / IND E 599 A</a:t>
            </a:r>
            <a:br>
              <a:rPr lang="en-US" b="1" dirty="0"/>
            </a:br>
            <a:r>
              <a:rPr lang="en-US" b="1" dirty="0"/>
              <a:t>AI/ML for Smart Manufacturing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Group Projects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90562" y="4521443"/>
            <a:ext cx="7762875" cy="509137"/>
          </a:xfrm>
        </p:spPr>
        <p:txBody>
          <a:bodyPr/>
          <a:lstStyle/>
          <a:p>
            <a:r>
              <a:rPr lang="de-DE" dirty="0"/>
              <a:t>Professor Ashis G. Banerjee</a:t>
            </a:r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399244" y="5030581"/>
            <a:ext cx="83455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April 06, 2026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92586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12F65-2649-0F8E-F6A4-0E39F04F1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B236FF-350A-8B32-01C1-BCD38D95E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Talk to your course friends and form groups of two </a:t>
            </a:r>
          </a:p>
          <a:p>
            <a:pPr lvl="1"/>
            <a:r>
              <a:rPr lang="en-US" dirty="0"/>
              <a:t>Let me know by </a:t>
            </a:r>
            <a:r>
              <a:rPr lang="en-US" b="1" dirty="0"/>
              <a:t>Wednesday, April 8</a:t>
            </a:r>
            <a:r>
              <a:rPr lang="en-US" dirty="0"/>
              <a:t>; also let me know if you would prefer to work on your own (not recommended)</a:t>
            </a:r>
          </a:p>
          <a:p>
            <a:pPr lvl="1"/>
            <a:r>
              <a:rPr lang="en-US" dirty="0"/>
              <a:t>I will assign randomly if you are unable to find a partner</a:t>
            </a:r>
          </a:p>
          <a:p>
            <a:endParaRPr lang="en-US" sz="800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09E1A7-FBF3-C0F1-2A5A-9DF297245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Formation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FDF8E7-8146-F21F-DC7D-19680D4F57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9258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813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7A302E-56B7-4CAE-F9E3-54F1E189F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Scan through all the papers uploaded in the </a:t>
            </a:r>
            <a:r>
              <a:rPr lang="en-US" dirty="0" err="1"/>
              <a:t>Group_projects_papers</a:t>
            </a:r>
            <a:r>
              <a:rPr lang="en-US" dirty="0"/>
              <a:t> folder under Files section of the Canvas course page</a:t>
            </a:r>
          </a:p>
          <a:p>
            <a:pPr lvl="1"/>
            <a:r>
              <a:rPr lang="en-US" dirty="0"/>
              <a:t>Each topic area has 2 or 3 papers</a:t>
            </a:r>
          </a:p>
          <a:p>
            <a:endParaRPr lang="en-US" sz="800" dirty="0"/>
          </a:p>
          <a:p>
            <a:r>
              <a:rPr lang="en-US" dirty="0"/>
              <a:t>Discuss topic areas with your partner(s) and shortlist a few relevant papers </a:t>
            </a:r>
          </a:p>
          <a:p>
            <a:pPr lvl="1"/>
            <a:r>
              <a:rPr lang="en-US" dirty="0"/>
              <a:t>Rank order two topic areas with at least one paper in each area</a:t>
            </a:r>
          </a:p>
          <a:p>
            <a:pPr lvl="1"/>
            <a:r>
              <a:rPr lang="en-US" dirty="0"/>
              <a:t>Ideally, select thoroughly written papers with data and code available on topics of interest to all the group members </a:t>
            </a:r>
          </a:p>
          <a:p>
            <a:pPr lvl="1"/>
            <a:r>
              <a:rPr lang="en-US" dirty="0"/>
              <a:t>Email your topic and paper choices </a:t>
            </a:r>
            <a:r>
              <a:rPr lang="en-US" b="1" dirty="0"/>
              <a:t>before class on Monday, April 13</a:t>
            </a:r>
          </a:p>
          <a:p>
            <a:pPr lvl="1"/>
            <a:r>
              <a:rPr lang="en-US" dirty="0"/>
              <a:t>We will finalize the choices in next Monday’s class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74CF98-FAC9-7579-7DA9-6AA5A0795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Selection</a:t>
            </a:r>
          </a:p>
        </p:txBody>
      </p:sp>
    </p:spTree>
    <p:extLst>
      <p:ext uri="{BB962C8B-B14F-4D97-AF65-F5344CB8AC3E}">
        <p14:creationId xmlns:p14="http://schemas.microsoft.com/office/powerpoint/2010/main" val="3524335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5F9675-16EE-1FFF-2CE5-5B7027520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Midterm presentation on May 4</a:t>
            </a:r>
            <a:r>
              <a:rPr lang="en-US" baseline="30000" dirty="0"/>
              <a:t>th</a:t>
            </a:r>
            <a:r>
              <a:rPr lang="en-US" dirty="0"/>
              <a:t> (10% of course grade)</a:t>
            </a:r>
          </a:p>
          <a:p>
            <a:pPr lvl="1"/>
            <a:r>
              <a:rPr lang="en-US" dirty="0"/>
              <a:t>10 minutes of presentation + 2 minutes of Q &amp; A</a:t>
            </a:r>
          </a:p>
          <a:p>
            <a:pPr lvl="1"/>
            <a:r>
              <a:rPr lang="en-US" dirty="0"/>
              <a:t>Introduce selected paper topic</a:t>
            </a:r>
          </a:p>
          <a:p>
            <a:pPr lvl="2"/>
            <a:r>
              <a:rPr lang="en-US" dirty="0"/>
              <a:t>Summarize problem background, scope of work, overview of methodology, and key results</a:t>
            </a:r>
          </a:p>
          <a:p>
            <a:pPr lvl="2"/>
            <a:r>
              <a:rPr lang="en-US" dirty="0"/>
              <a:t>Discuss which results your group would replicate with justification </a:t>
            </a:r>
          </a:p>
          <a:p>
            <a:pPr lvl="2"/>
            <a:r>
              <a:rPr lang="en-US" dirty="0"/>
              <a:t>Bonus credit (2% of course grade): Preliminary results </a:t>
            </a:r>
          </a:p>
          <a:p>
            <a:endParaRPr lang="en-US" sz="800" dirty="0"/>
          </a:p>
          <a:p>
            <a:r>
              <a:rPr lang="en-US" dirty="0"/>
              <a:t>Final presentation on June 1</a:t>
            </a:r>
            <a:r>
              <a:rPr lang="en-US" baseline="30000" dirty="0"/>
              <a:t>st</a:t>
            </a:r>
            <a:r>
              <a:rPr lang="en-US" dirty="0"/>
              <a:t> (10% of course grade)</a:t>
            </a:r>
          </a:p>
          <a:p>
            <a:pPr lvl="1"/>
            <a:r>
              <a:rPr lang="en-US" dirty="0"/>
              <a:t>10 minutes of presentation + 2 minutes of Q &amp; A</a:t>
            </a:r>
          </a:p>
          <a:p>
            <a:pPr lvl="1"/>
            <a:r>
              <a:rPr lang="en-US" dirty="0"/>
              <a:t>Quickly review selected paper scope </a:t>
            </a:r>
          </a:p>
          <a:p>
            <a:pPr lvl="1"/>
            <a:r>
              <a:rPr lang="en-US" dirty="0"/>
              <a:t>Present your AI/ML models and methods</a:t>
            </a:r>
          </a:p>
          <a:p>
            <a:pPr lvl="1"/>
            <a:r>
              <a:rPr lang="en-US" dirty="0"/>
              <a:t>Show your results in detail and discuss how they compare against those in the original paper; summarize findings and lessons learned</a:t>
            </a:r>
          </a:p>
          <a:p>
            <a:pPr lvl="1"/>
            <a:r>
              <a:rPr lang="en-US" dirty="0"/>
              <a:t>Bonus credit (2% of course grade): Additional results </a:t>
            </a:r>
          </a:p>
          <a:p>
            <a:pPr lvl="1"/>
            <a:endParaRPr lang="en-US" dirty="0"/>
          </a:p>
          <a:p>
            <a:endParaRPr lang="en-US" sz="800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6576F5-DAC7-06B4-0D57-4067C2B9F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Scope &amp; Timeline</a:t>
            </a:r>
          </a:p>
        </p:txBody>
      </p:sp>
    </p:spTree>
    <p:extLst>
      <p:ext uri="{BB962C8B-B14F-4D97-AF65-F5344CB8AC3E}">
        <p14:creationId xmlns:p14="http://schemas.microsoft.com/office/powerpoint/2010/main" val="3802514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D96D4-0405-14B8-852C-B7484B0E0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AF1405-E666-3AC8-7409-F6E6D6C97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report due on June 10</a:t>
            </a:r>
            <a:r>
              <a:rPr lang="en-US" baseline="30000" dirty="0"/>
              <a:t>th</a:t>
            </a:r>
            <a:r>
              <a:rPr lang="en-US" dirty="0"/>
              <a:t> (15% of course grade)</a:t>
            </a:r>
          </a:p>
          <a:p>
            <a:pPr lvl="1"/>
            <a:r>
              <a:rPr lang="en-US" dirty="0"/>
              <a:t>6 pages in IEEE conference-style proceedings </a:t>
            </a:r>
          </a:p>
          <a:p>
            <a:pPr lvl="2"/>
            <a:r>
              <a:rPr lang="en-US" dirty="0">
                <a:hlinkClick r:id="rId2"/>
              </a:rPr>
              <a:t>https://www.ieee.org/conferences/publishing/templates</a:t>
            </a:r>
            <a:endParaRPr lang="en-US" dirty="0"/>
          </a:p>
          <a:p>
            <a:pPr lvl="2"/>
            <a:endParaRPr lang="en-US" sz="800" dirty="0"/>
          </a:p>
          <a:p>
            <a:pPr lvl="1"/>
            <a:r>
              <a:rPr lang="en-US" dirty="0"/>
              <a:t>Recommended sections</a:t>
            </a:r>
          </a:p>
          <a:p>
            <a:pPr lvl="2"/>
            <a:r>
              <a:rPr lang="en-US" dirty="0"/>
              <a:t>Title, author names &amp; affiliations</a:t>
            </a:r>
          </a:p>
          <a:p>
            <a:pPr lvl="2"/>
            <a:r>
              <a:rPr lang="en-US" dirty="0"/>
              <a:t>Abstract &amp; keywords</a:t>
            </a:r>
          </a:p>
          <a:p>
            <a:pPr lvl="2"/>
            <a:r>
              <a:rPr lang="en-US" dirty="0"/>
              <a:t>Introduction (including related works)</a:t>
            </a:r>
          </a:p>
          <a:p>
            <a:pPr lvl="2"/>
            <a:r>
              <a:rPr lang="en-US" dirty="0"/>
              <a:t>Problem formulation (including preliminary / background materials)</a:t>
            </a:r>
          </a:p>
          <a:p>
            <a:pPr lvl="2"/>
            <a:r>
              <a:rPr lang="en-US" dirty="0"/>
              <a:t>Technical approach / methodology</a:t>
            </a:r>
          </a:p>
          <a:p>
            <a:pPr lvl="2"/>
            <a:r>
              <a:rPr lang="en-US" dirty="0"/>
              <a:t>Results</a:t>
            </a:r>
          </a:p>
          <a:p>
            <a:pPr lvl="2"/>
            <a:r>
              <a:rPr lang="en-US" dirty="0"/>
              <a:t>Discussion</a:t>
            </a:r>
          </a:p>
          <a:p>
            <a:pPr lvl="2"/>
            <a:r>
              <a:rPr lang="en-US" dirty="0"/>
              <a:t>Conclusions</a:t>
            </a:r>
          </a:p>
          <a:p>
            <a:pPr lvl="2"/>
            <a:r>
              <a:rPr lang="en-US" dirty="0"/>
              <a:t>References</a:t>
            </a:r>
          </a:p>
          <a:p>
            <a:pPr lvl="2"/>
            <a:r>
              <a:rPr lang="en-US" dirty="0"/>
              <a:t>Appendix (can be extra 1-2 pages)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A42549-BE80-5717-E166-8C5DB47D4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Scope &amp; Timeline (Cont’d.)</a:t>
            </a:r>
          </a:p>
        </p:txBody>
      </p:sp>
    </p:spTree>
    <p:extLst>
      <p:ext uri="{BB962C8B-B14F-4D97-AF65-F5344CB8AC3E}">
        <p14:creationId xmlns:p14="http://schemas.microsoft.com/office/powerpoint/2010/main" val="3764885054"/>
      </p:ext>
    </p:extLst>
  </p:cSld>
  <p:clrMapOvr>
    <a:masterClrMapping/>
  </p:clrMapOvr>
</p:sld>
</file>

<file path=ppt/theme/theme1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Book Antiqua"/>
        <a:ea typeface="ＭＳ 明朝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7030A0"/>
          </a:solidFill>
          <a:prstDash val="solid"/>
          <a:round/>
          <a:headEnd type="none" w="med" len="med"/>
          <a:tailEnd type="triangle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rtlCol="0">
        <a:spAutoFit/>
      </a:bodyPr>
      <a:lstStyle>
        <a:defPPr>
          <a:defRPr smtClean="0">
            <a:solidFill>
              <a:srgbClr val="7030A0"/>
            </a:solidFill>
          </a:defRPr>
        </a:defPPr>
      </a:lstStyle>
    </a:tx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Default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Book Antiqua"/>
        <a:ea typeface="ＭＳ 明朝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102271</TotalTime>
  <Words>399</Words>
  <Application>Microsoft Macintosh PowerPoint</Application>
  <PresentationFormat>On-screen Show (4:3)</PresentationFormat>
  <Paragraphs>58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 Unicode MS</vt:lpstr>
      <vt:lpstr>Arial</vt:lpstr>
      <vt:lpstr>Book Antiqua</vt:lpstr>
      <vt:lpstr>Wingdings</vt:lpstr>
      <vt:lpstr>2_Default Design</vt:lpstr>
      <vt:lpstr>3_Default Design</vt:lpstr>
      <vt:lpstr>ME 599 J, K / IND E 599 A AI/ML for Smart Manufacturing  Group Projects</vt:lpstr>
      <vt:lpstr>Group Formation</vt:lpstr>
      <vt:lpstr>Project Selection</vt:lpstr>
      <vt:lpstr>Project Scope &amp; Timeline</vt:lpstr>
      <vt:lpstr>Project Scope &amp; Timeline (Cont’d.)</vt:lpstr>
    </vt:vector>
  </TitlesOfParts>
  <Company>SKG Lab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UMCP</dc:creator>
  <cp:lastModifiedBy>Ashis G. Banerjee</cp:lastModifiedBy>
  <cp:revision>2494</cp:revision>
  <cp:lastPrinted>2016-01-22T23:20:15Z</cp:lastPrinted>
  <dcterms:created xsi:type="dcterms:W3CDTF">2008-05-05T16:40:45Z</dcterms:created>
  <dcterms:modified xsi:type="dcterms:W3CDTF">2026-04-06T21:29:38Z</dcterms:modified>
</cp:coreProperties>
</file>